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1" name="Google Shape;101;p19"/>
          <p:cNvSpPr txBox="1"/>
          <p:nvPr/>
        </p:nvSpPr>
        <p:spPr>
          <a:xfrm>
            <a:off x="56024" y="1795024"/>
            <a:ext cx="9088202" cy="212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/>
        </p:txBody>
      </p:sp>
      <p:sp>
        <p:nvSpPr>
          <p:cNvPr id="172" name="Google Shape;102;p19"/>
          <p:cNvSpPr txBox="1"/>
          <p:nvPr/>
        </p:nvSpPr>
        <p:spPr>
          <a:xfrm>
            <a:off x="-101469" y="3889923"/>
            <a:ext cx="7392301" cy="700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/>
        </p:txBody>
      </p:sp>
      <p:pic>
        <p:nvPicPr>
          <p:cNvPr id="173" name="Google Shape;210;p25" descr="Google Shape;210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03" y="118765"/>
            <a:ext cx="656432" cy="6564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mlh-logo-color.svg" descr="mlh-logo-color.sv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66490" y="250058"/>
            <a:ext cx="935071" cy="39373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BC3B431-1FAB-F602-79D6-70E483A32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E2377-BBE0-ACAF-A2C4-B20E19DA04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4343256"/>
            <a:ext cx="543361" cy="732567"/>
          </a:xfrm>
          <a:prstGeom prst="rect">
            <a:avLst/>
          </a:prstGeom>
        </p:spPr>
      </p:pic>
      <p:sp>
        <p:nvSpPr>
          <p:cNvPr id="175" name="Rounded Rectangle 174"/>
          <p:cNvSpPr/>
          <p:nvPr/>
        </p:nvSpPr>
        <p:spPr>
          <a:xfrm>
            <a:off x="320040" y="868680"/>
            <a:ext cx="3840480" cy="256032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94360" y="114300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Aptos"/>
              </a:rPr>
              <a:t>SUNYA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94360" y="164592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1F5F9"/>
                </a:solidFill>
                <a:latin typeface="Aptos"/>
              </a:rPr>
              <a:t>AI-powered mindful routine coach for digital detox, meditation, and habit streaks.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94360" y="2514600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Aptos"/>
              </a:rPr>
              <a:t>From scattered attention to calm, measurable daily rituals.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480560" y="1051560"/>
            <a:ext cx="4069080" cy="82296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Team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Sunya Labs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Lead builder: Akhil Smile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480560" y="2011680"/>
            <a:ext cx="4069080" cy="82296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Hackathon Tracks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Healthcare | AI/ML | Open Innovation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480560" y="2971800"/>
            <a:ext cx="4069080" cy="82296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MVP Status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Working Expo frontend + FastAPI backend + MongoDB + Gemini-powered Guru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48640" y="395020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DBFE"/>
                </a:solidFill>
                <a:latin typeface="Aptos"/>
              </a:rPr>
              <a:t>Startup showcase deck built from the current MVP repository.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7" name="Google Shape;210;p25" descr="Google Shape;210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03" y="118765"/>
            <a:ext cx="656432" cy="6564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mlh-logo-color.svg" descr="mlh-logo-color.sv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41845" y="250058"/>
            <a:ext cx="935071" cy="393731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Google Shape;117;p20"/>
          <p:cNvSpPr txBox="1">
            <a:spLocks noGrp="1"/>
          </p:cNvSpPr>
          <p:nvPr>
            <p:ph type="title"/>
          </p:nvPr>
        </p:nvSpPr>
        <p:spPr>
          <a:xfrm>
            <a:off x="1780768" y="517011"/>
            <a:ext cx="5321205" cy="656431"/>
          </a:xfrm>
          <a:prstGeom prst="rect">
            <a:avLst/>
          </a:prstGeom>
        </p:spPr>
        <p:txBody>
          <a:bodyPr>
            <a:normAutofit/>
          </a:bodyPr>
          <a:lstStyle>
            <a:lvl1pPr marL="340581" marR="4318" indent="130620" defTabSz="777240">
              <a:lnSpc>
                <a:spcPct val="148800"/>
              </a:lnSpc>
              <a:defRPr sz="1785"/>
            </a:lvl1pPr>
          </a:lstStyle>
          <a:p>
            <a:pPr algn="ctr"/>
            <a:r>
              <a:rPr dirty="0"/>
              <a:t>PROBLEM STATEMENT  &amp;</a:t>
            </a:r>
            <a:r>
              <a:rPr lang="en-US" dirty="0"/>
              <a:t>  </a:t>
            </a:r>
            <a:r>
              <a:rPr dirty="0"/>
              <a:t>SOLUTION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102E94-B968-796C-A504-EFB9B2BEA8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4343256"/>
            <a:ext cx="543361" cy="732567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411480" y="685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7171"/>
                </a:solidFill>
                <a:latin typeface="Aptos"/>
              </a:rPr>
              <a:t>THE PROBLEM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663440" y="685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Aptos"/>
              </a:rPr>
              <a:t>THE SUNYA SOLUTION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11480" y="1097280"/>
            <a:ext cx="3657600" cy="86868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Attention fatigue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Young users want calm, but apps often increase screen time instead of reducing it.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11480" y="2075688"/>
            <a:ext cx="3657600" cy="86868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No accountability loop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Meditation products rarely build habit streaks, social motivation, and measurable progress together.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11480" y="3054096"/>
            <a:ext cx="3657600" cy="86868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Generic wellness advice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Most tools do not personalize routines using emotion, context, and daily behavior.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4572000" y="1078992"/>
            <a:ext cx="3977639" cy="246888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1F5F9"/>
                </a:solidFill>
                <a:latin typeface="Aptos"/>
              </a:rPr>
              <a:t>- Guided meditation + yoga + digital detox in one daily flow.</a:t>
            </a:r>
          </a:p>
          <a:p>
            <a:r>
              <a:rPr sz="1500">
                <a:solidFill>
                  <a:srgbClr val="F1F5F9"/>
                </a:solidFill>
                <a:latin typeface="Aptos"/>
              </a:rPr>
              <a:t>- Zen Guru AI recommends the right session based on how the user feels.</a:t>
            </a:r>
          </a:p>
          <a:p>
            <a:r>
              <a:rPr sz="1500">
                <a:solidFill>
                  <a:srgbClr val="F1F5F9"/>
                </a:solidFill>
                <a:latin typeface="Aptos"/>
              </a:rPr>
              <a:t>- Points, streaks, leaderboards, and contests keep consistency rewarding.</a:t>
            </a:r>
          </a:p>
          <a:p>
            <a:r>
              <a:rPr sz="1500">
                <a:solidFill>
                  <a:srgbClr val="F1F5F9"/>
                </a:solidFill>
                <a:latin typeface="Aptos"/>
              </a:rPr>
              <a:t>- Optional BPM-assisted mindfulness check adds a future health-tech edge.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572000" y="3675887"/>
            <a:ext cx="3977639" cy="64008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MVP Outcome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Users complete a calming session, earn points, enter detox mode, and track progress in one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2" name="Google Shape;135;p21"/>
          <p:cNvSpPr txBox="1">
            <a:spLocks noGrp="1"/>
          </p:cNvSpPr>
          <p:nvPr>
            <p:ph type="title"/>
          </p:nvPr>
        </p:nvSpPr>
        <p:spPr>
          <a:xfrm>
            <a:off x="2039782" y="505975"/>
            <a:ext cx="4957011" cy="393731"/>
          </a:xfrm>
          <a:prstGeom prst="rect">
            <a:avLst/>
          </a:prstGeom>
        </p:spPr>
        <p:txBody>
          <a:bodyPr/>
          <a:lstStyle>
            <a:lvl1pPr indent="12700">
              <a:defRPr sz="1800"/>
            </a:lvl1pPr>
          </a:lstStyle>
          <a:p>
            <a:r>
              <a:rPr dirty="0"/>
              <a:t>TECH STACKS &amp; PUBLIC API’S DETAILS</a:t>
            </a:r>
          </a:p>
        </p:txBody>
      </p:sp>
      <p:pic>
        <p:nvPicPr>
          <p:cNvPr id="183" name="Google Shape;210;p25" descr="Google Shape;210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03" y="118765"/>
            <a:ext cx="656432" cy="6564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mlh-logo-color.svg" descr="mlh-logo-color.sv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41845" y="250058"/>
            <a:ext cx="935071" cy="3937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DDE269-58AF-448F-28D3-0FFBC075D2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4343256"/>
            <a:ext cx="543361" cy="732567"/>
          </a:xfrm>
          <a:prstGeom prst="rect">
            <a:avLst/>
          </a:prstGeom>
        </p:spPr>
      </p:pic>
      <p:sp>
        <p:nvSpPr>
          <p:cNvPr id="185" name="Rounded Rectangle 184"/>
          <p:cNvSpPr/>
          <p:nvPr/>
        </p:nvSpPr>
        <p:spPr>
          <a:xfrm>
            <a:off x="384048" y="1143000"/>
            <a:ext cx="1874519" cy="233172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Frontend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Expo Router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React Native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TypeScript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Reanimated UI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2606040" y="1143000"/>
            <a:ext cx="1874519" cy="233172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Backend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FastAPI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Python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JWT auth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Motor + MongoDB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828032" y="1143000"/>
            <a:ext cx="1874519" cy="233172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AI + APIs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Gemini API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Custom Guru prompt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Camera/BPM flow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Notifications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766560" y="1143000"/>
            <a:ext cx="1874519" cy="233172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Product Layer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Streaks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Contests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Leaderboards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Routine likes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502920" y="3794760"/>
            <a:ext cx="8138160" cy="68580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31520" y="3950208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Current MVP already supports authentication, daily sessions, progress history, detox scoring, contest ranking, and AI-guided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3078618" y="481192"/>
            <a:ext cx="3534453" cy="457701"/>
          </a:xfrm>
          <a:prstGeom prst="rect">
            <a:avLst/>
          </a:prstGeom>
        </p:spPr>
        <p:txBody>
          <a:bodyPr/>
          <a:lstStyle>
            <a:lvl1pPr marL="1032510" marR="5080" indent="-1020445">
              <a:lnSpc>
                <a:spcPct val="113399"/>
              </a:lnSpc>
            </a:lvl1pPr>
          </a:lstStyle>
          <a:p>
            <a:r>
              <a:rPr dirty="0"/>
              <a:t>WORKFLOW</a:t>
            </a:r>
            <a:r>
              <a:rPr lang="en-US" dirty="0"/>
              <a:t> DIAGRAM</a:t>
            </a:r>
            <a:endParaRPr dirty="0"/>
          </a:p>
        </p:txBody>
      </p:sp>
      <p:pic>
        <p:nvPicPr>
          <p:cNvPr id="188" name="Google Shape;210;p25" descr="Google Shape;210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03" y="118765"/>
            <a:ext cx="656432" cy="6564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mlh-logo-color.svg" descr="mlh-logo-color.sv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41845" y="250058"/>
            <a:ext cx="935071" cy="3937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EB339C-7D8B-83F2-4465-0766F9FF84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4343256"/>
            <a:ext cx="543361" cy="732567"/>
          </a:xfrm>
          <a:prstGeom prst="rect">
            <a:avLst/>
          </a:prstGeom>
        </p:spPr>
      </p:pic>
      <p:sp>
        <p:nvSpPr>
          <p:cNvPr id="190" name="Rounded Rectangle 189"/>
          <p:cNvSpPr/>
          <p:nvPr/>
        </p:nvSpPr>
        <p:spPr>
          <a:xfrm>
            <a:off x="274320" y="1645920"/>
            <a:ext cx="1325880" cy="150876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1. Onboard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Create account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Set wake habit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Choose intent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1600200" y="2395728"/>
            <a:ext cx="365760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ounded Rectangle 191"/>
          <p:cNvSpPr/>
          <p:nvPr/>
        </p:nvSpPr>
        <p:spPr>
          <a:xfrm>
            <a:off x="1965960" y="1645920"/>
            <a:ext cx="1325880" cy="150876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2. Daily prompt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Open home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See focus card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Start routine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3291839" y="2395728"/>
            <a:ext cx="365761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ounded Rectangle 193"/>
          <p:cNvSpPr/>
          <p:nvPr/>
        </p:nvSpPr>
        <p:spPr>
          <a:xfrm>
            <a:off x="3657600" y="1645920"/>
            <a:ext cx="1325880" cy="150876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3. Guided action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Meditation / Yoga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Optional BPM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Mood-aware Guru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4983480" y="2395728"/>
            <a:ext cx="365760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ounded Rectangle 195"/>
          <p:cNvSpPr/>
          <p:nvPr/>
        </p:nvSpPr>
        <p:spPr>
          <a:xfrm>
            <a:off x="5349240" y="1645920"/>
            <a:ext cx="1325880" cy="150876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4. Detox lock-in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Start 30-120 min detox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Stay present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Earn points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6675120" y="2395728"/>
            <a:ext cx="365760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ounded Rectangle 197"/>
          <p:cNvSpPr/>
          <p:nvPr/>
        </p:nvSpPr>
        <p:spPr>
          <a:xfrm>
            <a:off x="7040880" y="1645920"/>
            <a:ext cx="1325880" cy="150876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5. Progress loop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Track streaks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Join contests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Return tomorrow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31520" y="3767328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FDBFE"/>
                </a:solidFill>
                <a:latin typeface="Aptos"/>
              </a:rPr>
              <a:t>This workflow converts mindfulness from a one-time session into a sticky habit loop with emotional personalization and gamified retention.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2" name="Google Shape;150;p22"/>
          <p:cNvSpPr txBox="1">
            <a:spLocks noGrp="1"/>
          </p:cNvSpPr>
          <p:nvPr>
            <p:ph type="title"/>
          </p:nvPr>
        </p:nvSpPr>
        <p:spPr>
          <a:xfrm>
            <a:off x="2091631" y="633593"/>
            <a:ext cx="4960738" cy="393732"/>
          </a:xfrm>
          <a:prstGeom prst="rect">
            <a:avLst/>
          </a:prstGeom>
        </p:spPr>
        <p:txBody>
          <a:bodyPr/>
          <a:lstStyle>
            <a:lvl1pPr indent="407034"/>
          </a:lstStyle>
          <a:p>
            <a:r>
              <a:rPr dirty="0"/>
              <a:t>ARCHITECTURE DIAGRAM</a:t>
            </a:r>
          </a:p>
        </p:txBody>
      </p:sp>
      <p:pic>
        <p:nvPicPr>
          <p:cNvPr id="193" name="Google Shape;210;p25" descr="Google Shape;210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03" y="118765"/>
            <a:ext cx="656432" cy="6564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mlh-logo-color.svg" descr="mlh-logo-color.sv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41845" y="250058"/>
            <a:ext cx="935071" cy="3937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5A11F4A-9AEF-CD69-7B0D-E61A9DE44D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4343256"/>
            <a:ext cx="543361" cy="732567"/>
          </a:xfrm>
          <a:prstGeom prst="rect">
            <a:avLst/>
          </a:prstGeom>
        </p:spPr>
      </p:pic>
      <p:sp>
        <p:nvSpPr>
          <p:cNvPr id="195" name="Rounded Rectangle 194"/>
          <p:cNvSpPr/>
          <p:nvPr/>
        </p:nvSpPr>
        <p:spPr>
          <a:xfrm>
            <a:off x="320040" y="1280160"/>
            <a:ext cx="1828800" cy="182880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Client App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Expo app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Auth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Home dashboard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Meditation, Detox, Progress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2560320" y="960120"/>
            <a:ext cx="1828800" cy="86868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API Layer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FastAPI routers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JWT auth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CORS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2560320" y="2057400"/>
            <a:ext cx="1828800" cy="105156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Core Services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Sessions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Users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Contests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Routines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Guru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4800600" y="960120"/>
            <a:ext cx="1828800" cy="86868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Data Store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MongoDB Atlas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Users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Sessions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Likes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800600" y="2057400"/>
            <a:ext cx="1828800" cy="105156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AI Layer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Gemini-powered Zen Guru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Track recommendation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Reflection output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7040880" y="1280160"/>
            <a:ext cx="1463040" cy="182880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External Signals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Camera/BPM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Push alerts</a:t>
            </a:r>
            <a:br/>
            <a:r>
              <a:rPr sz="1200">
                <a:solidFill>
                  <a:srgbClr val="BFDBFE"/>
                </a:solidFill>
                <a:latin typeface="Aptos"/>
              </a:rPr>
              <a:t>Wake-time reminders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2148840" y="1828800"/>
            <a:ext cx="411480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4389120" y="1389888"/>
            <a:ext cx="411480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4389120" y="2560320"/>
            <a:ext cx="411480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6629400" y="1828800"/>
            <a:ext cx="411480" cy="0"/>
          </a:xfrm>
          <a:prstGeom prst="line">
            <a:avLst/>
          </a:prstGeom>
          <a:ln w="2794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731520" y="3794760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FDBFE"/>
                </a:solidFill>
                <a:latin typeface="Aptos"/>
              </a:rPr>
              <a:t>Modular backend means each growth feature can scale independently without rewriting the product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7" name="Google Shape;187;p24"/>
          <p:cNvSpPr txBox="1">
            <a:spLocks noGrp="1"/>
          </p:cNvSpPr>
          <p:nvPr>
            <p:ph type="title"/>
          </p:nvPr>
        </p:nvSpPr>
        <p:spPr>
          <a:xfrm>
            <a:off x="2413682" y="643379"/>
            <a:ext cx="4591275" cy="456794"/>
          </a:xfrm>
          <a:prstGeom prst="rect">
            <a:avLst/>
          </a:prstGeom>
        </p:spPr>
        <p:txBody>
          <a:bodyPr/>
          <a:lstStyle>
            <a:lvl1pPr marL="1032510" marR="5080" indent="-1020445">
              <a:lnSpc>
                <a:spcPct val="113399"/>
              </a:lnSpc>
            </a:lvl1pPr>
          </a:lstStyle>
          <a:p>
            <a:r>
              <a:rPr dirty="0"/>
              <a:t>USP(UNIQUE SELLING POINT) </a:t>
            </a:r>
          </a:p>
        </p:txBody>
      </p:sp>
      <p:pic>
        <p:nvPicPr>
          <p:cNvPr id="198" name="Google Shape;210;p25" descr="Google Shape;210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03" y="118765"/>
            <a:ext cx="656432" cy="6564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mlh-logo-color.svg" descr="mlh-logo-color.sv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41845" y="250058"/>
            <a:ext cx="935071" cy="3937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6FA95C-606F-CE3C-5348-6E56D84357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4343256"/>
            <a:ext cx="543361" cy="732567"/>
          </a:xfrm>
          <a:prstGeom prst="rect">
            <a:avLst/>
          </a:prstGeom>
        </p:spPr>
      </p:pic>
      <p:sp>
        <p:nvSpPr>
          <p:cNvPr id="200" name="Rounded Rectangle 199"/>
          <p:cNvSpPr/>
          <p:nvPr/>
        </p:nvSpPr>
        <p:spPr>
          <a:xfrm>
            <a:off x="502920" y="1325880"/>
            <a:ext cx="3657600" cy="100584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Not another meditation timer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Sunya blends meditation, yoga, detox, and social motivation in one experience.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617720" y="1325880"/>
            <a:ext cx="3657600" cy="100584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Personalization that feels human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Zen Guru converts a plain text check-in into a recommended session and emotional reflection.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02920" y="2743200"/>
            <a:ext cx="3657600" cy="1005840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Retention by design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Streaks, points, contests, and leaderboards make calm behavior repeatable.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4617720" y="2743200"/>
            <a:ext cx="3657600" cy="1005840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Low-cost, scalable wellness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Software-first model works for students, wellness communities, and employers without heavy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2" name="Google Shape;210;p25" descr="Google Shape;210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03" y="118765"/>
            <a:ext cx="656432" cy="6564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mlh-logo-color.svg" descr="mlh-logo-color.sv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41845" y="250058"/>
            <a:ext cx="935071" cy="393731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Google Shape;187;p24"/>
          <p:cNvSpPr txBox="1"/>
          <p:nvPr/>
        </p:nvSpPr>
        <p:spPr>
          <a:xfrm>
            <a:off x="3568587" y="775197"/>
            <a:ext cx="2006825" cy="35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marL="1032510" marR="5080" indent="-1020445">
              <a:lnSpc>
                <a:spcPct val="113399"/>
              </a:lnSpc>
              <a:defRPr sz="2100" b="1">
                <a:latin typeface="Georgia"/>
                <a:ea typeface="Georgia"/>
                <a:cs typeface="Georgia"/>
                <a:sym typeface="Georgia"/>
              </a:defRPr>
            </a:lvl1pPr>
          </a:lstStyle>
          <a:p/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304D59-176D-D9D7-BD14-D654D0A37E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4343256"/>
            <a:ext cx="543361" cy="732567"/>
          </a:xfrm>
          <a:prstGeom prst="rect">
            <a:avLst/>
          </a:prstGeom>
        </p:spPr>
      </p:pic>
      <p:sp>
        <p:nvSpPr>
          <p:cNvPr id="205" name="Rounded Rectangle 204"/>
          <p:cNvSpPr/>
          <p:nvPr/>
        </p:nvSpPr>
        <p:spPr>
          <a:xfrm>
            <a:off x="640080" y="1143000"/>
            <a:ext cx="7863840" cy="658368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Why feasible now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MVP already exists in code: working frontend, backend APIs, auth, progress tracking, contests, and AI coaching.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640080" y="1929384"/>
            <a:ext cx="7863840" cy="658368"/>
          </a:xfrm>
          <a:prstGeom prst="roundRect">
            <a:avLst/>
          </a:prstGeom>
          <a:solidFill>
            <a:srgbClr val="0F2236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User wedge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Students and young professionals facing burnout, doomscrolling, and inconsistent self-care.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640080" y="2715768"/>
            <a:ext cx="7863840" cy="658368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Revenue path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Freemium app, premium guided programs, campus wellness partnerships, and B2B employee wellbeing packs.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40080" y="3502151"/>
            <a:ext cx="7863840" cy="658368"/>
          </a:xfrm>
          <a:prstGeom prst="roundRect">
            <a:avLst/>
          </a:prstGeom>
          <a:solidFill>
            <a:srgbClr val="16314F"/>
          </a:solidFill>
          <a:ln w="19050">
            <a:solidFill>
              <a:srgbClr val="16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Next 30 days</a:t>
            </a:r>
          </a:p>
          <a:p>
            <a:r>
              <a:rPr sz="1200">
                <a:solidFill>
                  <a:srgbClr val="BFDBFE"/>
                </a:solidFill>
                <a:latin typeface="Aptos"/>
              </a:rPr>
              <a:t>Polish onboarding, re-enable accurate BPM, launch beta cohort, measure D7 retention and daily streak completion.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920240" y="4352544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D4BF"/>
                </a:solidFill>
                <a:latin typeface="Aptos"/>
              </a:rPr>
              <a:t>Sunya is credible as a hackathon startup because the product loop is already implemented, not just imagined.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